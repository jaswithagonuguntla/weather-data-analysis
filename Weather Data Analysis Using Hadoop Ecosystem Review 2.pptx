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70" r:id="rId11"/>
    <p:sldId id="272" r:id="rId12"/>
    <p:sldId id="273" r:id="rId13"/>
    <p:sldId id="262" r:id="rId14"/>
  </p:sldIdLst>
  <p:sldSz cx="18288000" cy="10287000"/>
  <p:notesSz cx="6858000" cy="9144000"/>
  <p:embeddedFontLst>
    <p:embeddedFont>
      <p:font typeface="Arimo Bold" panose="020B0604020202020204" charset="0"/>
      <p:regular r:id="rId15"/>
    </p:embeddedFont>
    <p:embeddedFont>
      <p:font typeface="Canva Sans" panose="020B0604020202020204" charset="0"/>
      <p:regular r:id="rId16"/>
    </p:embeddedFont>
    <p:embeddedFont>
      <p:font typeface="Canva Sans Bold" panose="020B0604020202020204" charset="0"/>
      <p:regular r:id="rId17"/>
    </p:embeddedFont>
    <p:embeddedFont>
      <p:font typeface="Maven Pro" panose="020B0604020202020204" charset="0"/>
      <p:regular r:id="rId18"/>
    </p:embeddedFont>
    <p:embeddedFont>
      <p:font typeface="Maven Pro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28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hyperlink" Target="https://link.springer.com/chapter/10.1007/978-3-030-41593-8_13" TargetMode="External"/><Relationship Id="rId2" Type="http://schemas.openxmlformats.org/officeDocument/2006/relationships/hyperlink" Target="https://www.ijert.org/big-data-in-weather-forecasting?utm_source=chatgpt.com" TargetMode="External"/><Relationship Id="rId1" Type="http://schemas.openxmlformats.org/officeDocument/2006/relationships/slideLayout" Target="../slideLayouts/slideLayout7.xml"/><Relationship Id="rId4" Type="http://schemas.openxmlformats.org/officeDocument/2006/relationships/slide" Target="slide5.xml"/></Relationships>
</file>

<file path=ppt/slides/_rels/slide6.xml.rels><?xml version="1.0" encoding="UTF-8" standalone="yes"?>
<Relationships xmlns="http://schemas.openxmlformats.org/package/2006/relationships"><Relationship Id="rId2" Type="http://schemas.openxmlformats.org/officeDocument/2006/relationships/hyperlink" Target="Weather%20Data%20Analysis%20Using%20Hadoop%20Ecosystem.pptx"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jp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100630" y="2371725"/>
            <a:ext cx="16086739" cy="4700033"/>
          </a:xfrm>
          <a:prstGeom prst="rect">
            <a:avLst/>
          </a:prstGeom>
        </p:spPr>
        <p:txBody>
          <a:bodyPr lIns="0" tIns="0" rIns="0" bIns="0" rtlCol="0" anchor="t">
            <a:spAutoFit/>
          </a:bodyPr>
          <a:lstStyle/>
          <a:p>
            <a:pPr algn="ctr">
              <a:lnSpc>
                <a:spcPts val="8960"/>
              </a:lnSpc>
            </a:pPr>
            <a:r>
              <a:rPr lang="en-US" sz="11200" b="1" dirty="0">
                <a:solidFill>
                  <a:srgbClr val="252930"/>
                </a:solidFill>
                <a:latin typeface="Maven Pro Bold"/>
                <a:ea typeface="Maven Pro Bold"/>
                <a:cs typeface="Maven Pro Bold"/>
                <a:sym typeface="Maven Pro Bold"/>
              </a:rPr>
              <a:t>WEATHER DATA ANALYSIS USING HADOOP ECOSYSTEM</a:t>
            </a:r>
          </a:p>
          <a:p>
            <a:pPr algn="ctr">
              <a:lnSpc>
                <a:spcPts val="8960"/>
              </a:lnSpc>
            </a:pPr>
            <a:endParaRPr lang="en-US" sz="11200" b="1" dirty="0">
              <a:solidFill>
                <a:srgbClr val="252930"/>
              </a:solidFill>
              <a:latin typeface="Maven Pro Bold"/>
              <a:ea typeface="Maven Pro Bold"/>
              <a:cs typeface="Maven Pro Bold"/>
              <a:sym typeface="Maven Pro Bold"/>
            </a:endParaRPr>
          </a:p>
        </p:txBody>
      </p:sp>
      <p:sp>
        <p:nvSpPr>
          <p:cNvPr id="3" name="Freeform 3"/>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V="1">
            <a:off x="14297025" y="6296025"/>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0" y="8039083"/>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7657548" y="293921"/>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028700"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3711618" y="7535984"/>
            <a:ext cx="10864763" cy="1433794"/>
          </a:xfrm>
          <a:prstGeom prst="rect">
            <a:avLst/>
          </a:prstGeom>
        </p:spPr>
        <p:txBody>
          <a:bodyPr lIns="0" tIns="0" rIns="0" bIns="0" rtlCol="0" anchor="t">
            <a:spAutoFit/>
          </a:bodyPr>
          <a:lstStyle/>
          <a:p>
            <a:pPr algn="ctr">
              <a:lnSpc>
                <a:spcPts val="3736"/>
              </a:lnSpc>
            </a:pPr>
            <a:r>
              <a:rPr lang="en-US" sz="3736">
                <a:solidFill>
                  <a:srgbClr val="252930"/>
                </a:solidFill>
                <a:latin typeface="Maven Pro"/>
                <a:ea typeface="Maven Pro"/>
                <a:cs typeface="Maven Pro"/>
                <a:sym typeface="Maven Pro"/>
              </a:rPr>
              <a:t>T. Panya Sadhika - 2320030138</a:t>
            </a:r>
          </a:p>
          <a:p>
            <a:pPr algn="ctr">
              <a:lnSpc>
                <a:spcPts val="3736"/>
              </a:lnSpc>
            </a:pPr>
            <a:r>
              <a:rPr lang="en-US" sz="3736">
                <a:solidFill>
                  <a:srgbClr val="252930"/>
                </a:solidFill>
                <a:latin typeface="Maven Pro"/>
                <a:ea typeface="Maven Pro"/>
                <a:cs typeface="Maven Pro"/>
                <a:sym typeface="Maven Pro"/>
              </a:rPr>
              <a:t>G. Jaswitha- 2320030216</a:t>
            </a:r>
          </a:p>
          <a:p>
            <a:pPr algn="ctr">
              <a:lnSpc>
                <a:spcPts val="3736"/>
              </a:lnSpc>
            </a:pPr>
            <a:r>
              <a:rPr lang="en-US" sz="3736">
                <a:solidFill>
                  <a:srgbClr val="252930"/>
                </a:solidFill>
                <a:latin typeface="Maven Pro"/>
                <a:ea typeface="Maven Pro"/>
                <a:cs typeface="Maven Pro"/>
                <a:sym typeface="Maven Pro"/>
              </a:rPr>
              <a:t>Srivarsh- 2320039506</a:t>
            </a:r>
          </a:p>
        </p:txBody>
      </p:sp>
      <p:sp>
        <p:nvSpPr>
          <p:cNvPr id="9" name="Freeform 9"/>
          <p:cNvSpPr/>
          <p:nvPr/>
        </p:nvSpPr>
        <p:spPr>
          <a:xfrm flipV="1">
            <a:off x="14542983" y="-104775"/>
            <a:ext cx="2716317" cy="1358159"/>
          </a:xfrm>
          <a:custGeom>
            <a:avLst/>
            <a:gdLst/>
            <a:ahLst/>
            <a:cxnLst/>
            <a:rect l="l" t="t" r="r" b="b"/>
            <a:pathLst>
              <a:path w="2716317" h="1358159">
                <a:moveTo>
                  <a:pt x="0" y="1358159"/>
                </a:moveTo>
                <a:lnTo>
                  <a:pt x="2716317" y="1358159"/>
                </a:lnTo>
                <a:lnTo>
                  <a:pt x="2716317" y="0"/>
                </a:lnTo>
                <a:lnTo>
                  <a:pt x="0" y="0"/>
                </a:lnTo>
                <a:lnTo>
                  <a:pt x="0" y="1358159"/>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pSp>
        <p:nvGrpSpPr>
          <p:cNvPr id="2" name="Group 2"/>
          <p:cNvGrpSpPr/>
          <p:nvPr/>
        </p:nvGrpSpPr>
        <p:grpSpPr>
          <a:xfrm>
            <a:off x="2057400" y="3154191"/>
            <a:ext cx="14249400" cy="5262978"/>
            <a:chOff x="0" y="0"/>
            <a:chExt cx="3678810" cy="1332685"/>
          </a:xfrm>
        </p:grpSpPr>
        <p:sp>
          <p:nvSpPr>
            <p:cNvPr id="3" name="Freeform 3"/>
            <p:cNvSpPr/>
            <p:nvPr/>
          </p:nvSpPr>
          <p:spPr>
            <a:xfrm>
              <a:off x="0" y="0"/>
              <a:ext cx="3678810" cy="1332685"/>
            </a:xfrm>
            <a:custGeom>
              <a:avLst/>
              <a:gdLst/>
              <a:ahLst/>
              <a:cxnLst/>
              <a:rect l="l" t="t" r="r" b="b"/>
              <a:pathLst>
                <a:path w="3678810" h="1332685">
                  <a:moveTo>
                    <a:pt x="28267" y="0"/>
                  </a:moveTo>
                  <a:lnTo>
                    <a:pt x="3650543" y="0"/>
                  </a:lnTo>
                  <a:cubicBezTo>
                    <a:pt x="3666155" y="0"/>
                    <a:pt x="3678810" y="12656"/>
                    <a:pt x="3678810" y="28267"/>
                  </a:cubicBezTo>
                  <a:lnTo>
                    <a:pt x="3678810" y="1304418"/>
                  </a:lnTo>
                  <a:cubicBezTo>
                    <a:pt x="3678810" y="1320029"/>
                    <a:pt x="3666155" y="1332685"/>
                    <a:pt x="3650543" y="1332685"/>
                  </a:cubicBezTo>
                  <a:lnTo>
                    <a:pt x="28267" y="1332685"/>
                  </a:lnTo>
                  <a:cubicBezTo>
                    <a:pt x="20770" y="1332685"/>
                    <a:pt x="13580" y="1329707"/>
                    <a:pt x="8279" y="1324406"/>
                  </a:cubicBezTo>
                  <a:cubicBezTo>
                    <a:pt x="2978" y="1319105"/>
                    <a:pt x="0" y="1311915"/>
                    <a:pt x="0" y="1304418"/>
                  </a:cubicBezTo>
                  <a:lnTo>
                    <a:pt x="0" y="28267"/>
                  </a:lnTo>
                  <a:cubicBezTo>
                    <a:pt x="0" y="12656"/>
                    <a:pt x="12656" y="0"/>
                    <a:pt x="28267" y="0"/>
                  </a:cubicBezTo>
                  <a:close/>
                </a:path>
              </a:pathLst>
            </a:custGeom>
            <a:solidFill>
              <a:srgbClr val="C0B3A0">
                <a:alpha val="20784"/>
              </a:srgbClr>
            </a:solidFill>
            <a:ln w="47625" cap="rnd">
              <a:solidFill>
                <a:srgbClr val="000000">
                  <a:alpha val="20784"/>
                </a:srgbClr>
              </a:solidFill>
              <a:prstDash val="solid"/>
              <a:round/>
            </a:ln>
          </p:spPr>
        </p:sp>
        <p:sp>
          <p:nvSpPr>
            <p:cNvPr id="4" name="TextBox 4"/>
            <p:cNvSpPr txBox="1"/>
            <p:nvPr/>
          </p:nvSpPr>
          <p:spPr>
            <a:xfrm>
              <a:off x="0" y="-38100"/>
              <a:ext cx="3678810" cy="1370785"/>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6596991" y="7171464"/>
            <a:ext cx="5094018" cy="838394"/>
          </a:xfrm>
          <a:prstGeom prst="rect">
            <a:avLst/>
          </a:prstGeom>
        </p:spPr>
        <p:txBody>
          <a:bodyPr lIns="0" tIns="0" rIns="0" bIns="0" rtlCol="0" anchor="t">
            <a:spAutoFit/>
          </a:bodyPr>
          <a:lstStyle/>
          <a:p>
            <a:pPr algn="just">
              <a:lnSpc>
                <a:spcPts val="8084"/>
              </a:lnSpc>
            </a:pPr>
            <a:endParaRPr/>
          </a:p>
        </p:txBody>
      </p:sp>
      <p:sp>
        <p:nvSpPr>
          <p:cNvPr id="10" name="TextBox 10"/>
          <p:cNvSpPr txBox="1"/>
          <p:nvPr/>
        </p:nvSpPr>
        <p:spPr>
          <a:xfrm>
            <a:off x="4995148" y="1860291"/>
            <a:ext cx="8297704" cy="845492"/>
          </a:xfrm>
          <a:prstGeom prst="rect">
            <a:avLst/>
          </a:prstGeom>
        </p:spPr>
        <p:txBody>
          <a:bodyPr lIns="0" tIns="0" rIns="0" bIns="0" rtlCol="0" anchor="t">
            <a:spAutoFit/>
          </a:bodyPr>
          <a:lstStyle/>
          <a:p>
            <a:pPr algn="ctr">
              <a:lnSpc>
                <a:spcPts val="5841"/>
              </a:lnSpc>
            </a:pPr>
            <a:r>
              <a:rPr lang="en-US" sz="7301" b="1">
                <a:solidFill>
                  <a:srgbClr val="252D37"/>
                </a:solidFill>
                <a:latin typeface="Maven Pro Bold"/>
                <a:ea typeface="Maven Pro Bold"/>
                <a:cs typeface="Maven Pro Bold"/>
                <a:sym typeface="Maven Pro Bold"/>
              </a:rPr>
              <a:t>OVERVIEW</a:t>
            </a:r>
          </a:p>
        </p:txBody>
      </p:sp>
      <p:sp>
        <p:nvSpPr>
          <p:cNvPr id="11" name="Freeform 11"/>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Freeform 13"/>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5" name="TextBox 14">
            <a:extLst>
              <a:ext uri="{FF2B5EF4-FFF2-40B4-BE49-F238E27FC236}">
                <a16:creationId xmlns:a16="http://schemas.microsoft.com/office/drawing/2014/main" id="{F3EB4E0C-2283-D33E-8F91-C81BA03AA700}"/>
              </a:ext>
            </a:extLst>
          </p:cNvPr>
          <p:cNvSpPr txBox="1"/>
          <p:nvPr/>
        </p:nvSpPr>
        <p:spPr>
          <a:xfrm>
            <a:off x="2286000" y="3182796"/>
            <a:ext cx="13510738" cy="3416320"/>
          </a:xfrm>
          <a:prstGeom prst="rect">
            <a:avLst/>
          </a:prstGeom>
          <a:noFill/>
        </p:spPr>
        <p:txBody>
          <a:bodyPr wrap="square">
            <a:spAutoFit/>
          </a:bodyPr>
          <a:lstStyle/>
          <a:p>
            <a:pPr marL="457200" indent="-457200" algn="l">
              <a:buClrTx/>
              <a:buFont typeface="+mj-lt"/>
              <a:buAutoNum type="arabicPeriod"/>
            </a:pPr>
            <a:r>
              <a:rPr lang="en-US" sz="2400" dirty="0">
                <a:latin typeface="Times New Roman" panose="02020603050405020304" pitchFamily="18" charset="0"/>
                <a:cs typeface="Times New Roman" panose="02020603050405020304" pitchFamily="18" charset="0"/>
              </a:rPr>
              <a:t>ABSTRACT</a:t>
            </a:r>
          </a:p>
          <a:p>
            <a:pPr marL="457200" indent="-457200" algn="l">
              <a:buClrTx/>
              <a:buFont typeface="+mj-lt"/>
              <a:buAutoNum type="arabicPeriod"/>
            </a:pPr>
            <a:r>
              <a:rPr lang="en-IN" sz="2400" dirty="0">
                <a:latin typeface="Times New Roman" panose="02020603050405020304" pitchFamily="18" charset="0"/>
                <a:cs typeface="Times New Roman" panose="02020603050405020304" pitchFamily="18" charset="0"/>
              </a:rPr>
              <a:t>INTRODUCTION</a:t>
            </a:r>
          </a:p>
          <a:p>
            <a:pPr marL="457200" indent="-457200" algn="l">
              <a:buClrTx/>
              <a:buFont typeface="+mj-lt"/>
              <a:buAutoNum type="arabicPeriod"/>
            </a:pPr>
            <a:r>
              <a:rPr lang="en-IN" sz="2400" dirty="0">
                <a:latin typeface="Times New Roman" panose="02020603050405020304" pitchFamily="18" charset="0"/>
                <a:cs typeface="Times New Roman" panose="02020603050405020304" pitchFamily="18" charset="0"/>
              </a:rPr>
              <a:t>EXISTING SYSTEM</a:t>
            </a:r>
          </a:p>
          <a:p>
            <a:pPr marL="457200" indent="-457200" algn="l">
              <a:buClrTx/>
              <a:buFont typeface="+mj-lt"/>
              <a:buAutoNum type="arabicPeriod"/>
            </a:pPr>
            <a:r>
              <a:rPr lang="en-IN" sz="2400" dirty="0">
                <a:latin typeface="Times New Roman" panose="02020603050405020304" pitchFamily="18" charset="0"/>
                <a:cs typeface="Times New Roman" panose="02020603050405020304" pitchFamily="18" charset="0"/>
              </a:rPr>
              <a:t>PROPOSED SYSTEM</a:t>
            </a:r>
          </a:p>
          <a:p>
            <a:pPr marL="457200" indent="-457200" algn="l">
              <a:buClrTx/>
              <a:buFont typeface="+mj-lt"/>
              <a:buAutoNum type="arabicPeriod"/>
            </a:pPr>
            <a:r>
              <a:rPr lang="en-IN" sz="2400" dirty="0">
                <a:latin typeface="Times New Roman" panose="02020603050405020304" pitchFamily="18" charset="0"/>
                <a:cs typeface="Times New Roman" panose="02020603050405020304" pitchFamily="18" charset="0"/>
              </a:rPr>
              <a:t>OBJECTIVES</a:t>
            </a:r>
            <a:endParaRPr lang="en-US" sz="2400" dirty="0">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US" sz="2400" dirty="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IN" sz="2400" dirty="0">
                <a:latin typeface="Times New Roman" panose="02020603050405020304" pitchFamily="18" charset="0"/>
                <a:cs typeface="Times New Roman" panose="02020603050405020304" pitchFamily="18" charset="0"/>
              </a:rPr>
              <a:t>SYSTEM ARCHITECTURE</a:t>
            </a:r>
          </a:p>
          <a:p>
            <a:pPr marL="457200" indent="-457200" algn="l">
              <a:buClrTx/>
              <a:buFont typeface="+mj-lt"/>
              <a:buAutoNum type="arabicPeriod"/>
            </a:pPr>
            <a:r>
              <a:rPr lang="en-IN" sz="2400" dirty="0">
                <a:latin typeface="Times New Roman" panose="02020603050405020304" pitchFamily="18" charset="0"/>
                <a:cs typeface="Times New Roman" panose="02020603050405020304" pitchFamily="18" charset="0"/>
              </a:rPr>
              <a:t>ACTIVITY DIAGRAM</a:t>
            </a:r>
          </a:p>
          <a:p>
            <a:pPr marL="457200" indent="-457200" algn="l">
              <a:buClrTx/>
              <a:buFont typeface="+mj-lt"/>
              <a:buAutoNum type="arabicPeriod"/>
            </a:pPr>
            <a:r>
              <a:rPr lang="en-IN" sz="2400" dirty="0">
                <a:latin typeface="Times New Roman" panose="02020603050405020304" pitchFamily="18" charset="0"/>
                <a:cs typeface="Times New Roman" panose="02020603050405020304" pitchFamily="18" charset="0"/>
              </a:rPr>
              <a:t>MODULE DESIGN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664265" y="2203125"/>
            <a:ext cx="16368829" cy="5909310"/>
          </a:xfrm>
          <a:prstGeom prst="rect">
            <a:avLst/>
          </a:prstGeom>
        </p:spPr>
        <p:txBody>
          <a:bodyPr lIns="0" tIns="0" rIns="0" bIns="0" rtlCol="0" anchor="t">
            <a:spAutoFit/>
          </a:bodyPr>
          <a:lstStyle/>
          <a:p>
            <a:r>
              <a:rPr lang="en-US" sz="2400" dirty="0"/>
              <a:t>Weather data is generated continuously from a wide range of sources such as satellites, radar systems, weather stations, and Internet of Things (IoT) sensors. These sources collect important environmental parameters including temperature, humidity, rainfall, atmospheric pressure, and wind speed. Because these systems operate continuously and cover large geographic regions, they produce massive volumes of data every day. The collected data can be both structured (such as tabular sensor readings) and unstructured (such as satellite images or radar signals). Managing and analyzing such large and rapidly growing datasets using traditional database systems becomes extremely challenging. Conventional relational databases are not designed to handle big data volumes efficiently, especially when the data grows at high speed and requires large-scale processing. As a result, there is a need for advanced technologies that can store, process, and analyze large datasets in a distributed and scalable manner.</a:t>
            </a:r>
          </a:p>
          <a:p>
            <a:r>
              <a:rPr lang="en-US" sz="2400" dirty="0"/>
              <a:t>This project addresses these challenges by using the Hadoop ecosystem, which is a powerful framework designed for big data storage and processing. Apache Hadoop provides a distributed computing environment that allows large datasets to be stored and processed across multiple machines working together as a cluster. Instead of storing all the data in a single system, Hadoop divides the data into smaller blocks and distributes them across several nodes in the cluster. This approach improves both storage capacity and processing efficiency.</a:t>
            </a:r>
          </a:p>
          <a:p>
            <a:r>
              <a:rPr lang="en-US" sz="2400" dirty="0"/>
              <a:t>For storing weather data, the system uses Apache HDFS. HDFS is designed to store large files by splitting them into blocks and replicating them across multiple nodes to ensure data reliability and fault tolerance. If one node fails, the data can still be accessed from another node, which makes the system highly reliable.</a:t>
            </a:r>
          </a:p>
        </p:txBody>
      </p:sp>
      <p:sp>
        <p:nvSpPr>
          <p:cNvPr id="3" name="TextBox 3"/>
          <p:cNvSpPr txBox="1"/>
          <p:nvPr/>
        </p:nvSpPr>
        <p:spPr>
          <a:xfrm>
            <a:off x="4582643" y="1012824"/>
            <a:ext cx="9095826" cy="920751"/>
          </a:xfrm>
          <a:prstGeom prst="rect">
            <a:avLst/>
          </a:prstGeom>
        </p:spPr>
        <p:txBody>
          <a:bodyPr lIns="0" tIns="0" rIns="0" bIns="0" rtlCol="0" anchor="t">
            <a:spAutoFit/>
          </a:bodyPr>
          <a:lstStyle/>
          <a:p>
            <a:pPr algn="ctr">
              <a:lnSpc>
                <a:spcPts val="6400"/>
              </a:lnSpc>
            </a:pPr>
            <a:r>
              <a:rPr lang="en-US" sz="8000" b="1">
                <a:solidFill>
                  <a:srgbClr val="252D37"/>
                </a:solidFill>
                <a:latin typeface="Maven Pro Bold"/>
                <a:ea typeface="Maven Pro Bold"/>
                <a:cs typeface="Maven Pro Bold"/>
                <a:sym typeface="Maven Pro Bold"/>
              </a:rPr>
              <a:t>ABSTRACT</a:t>
            </a:r>
          </a:p>
        </p:txBody>
      </p:sp>
      <p:sp>
        <p:nvSpPr>
          <p:cNvPr id="4" name="Freeform 4"/>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028700"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988531" y="2777131"/>
            <a:ext cx="16527944" cy="6278642"/>
          </a:xfrm>
          <a:prstGeom prst="rect">
            <a:avLst/>
          </a:prstGeom>
        </p:spPr>
        <p:txBody>
          <a:bodyPr lIns="0" tIns="0" rIns="0" bIns="0" rtlCol="0" anchor="t">
            <a:spAutoFit/>
          </a:bodyPr>
          <a:lstStyle/>
          <a:p>
            <a:r>
              <a:rPr lang="en-US" sz="2400" dirty="0">
                <a:latin typeface="Times New Roman" panose="02020603050405020304" pitchFamily="18" charset="0"/>
                <a:cs typeface="Times New Roman" panose="02020603050405020304" pitchFamily="18" charset="0"/>
              </a:rPr>
              <a:t>Weather data is continuously generated from a variety of sources, including satellites, radar systems, automated weather stations, and an increasing number of IoT sensors. These sources produce enormous volumes of data in both structured formats, such as numerical readings of temperature and humidity, and unstructured formats, like satellite images and radar scans. The continuous influx of such high-velocity data presents significant challenges for traditional database systems, which are often unable to efficiently store, manage, and process these large-scale datasets in real time.</a:t>
            </a:r>
          </a:p>
          <a:p>
            <a:r>
              <a:rPr lang="en-US" sz="2400" dirty="0">
                <a:latin typeface="Times New Roman" panose="02020603050405020304" pitchFamily="18" charset="0"/>
                <a:cs typeface="Times New Roman" panose="02020603050405020304" pitchFamily="18" charset="0"/>
              </a:rPr>
              <a:t>To address these challenges, the Apache Hadoop ecosystem offers a robust solution for Big Data applications by providing distributed storage and parallel processing capabilities. Hadoop’s HDFS (Hadoop Distributed File System) allows data to be stored across multiple nodes, ensuring fault tolerance, scalability, and high availability. Processing frameworks such as Hadoop MapReduce enable parallel computation on large datasets, while Apache Spark allows in-memory processing for faster analytics. Additionally, Apache Hive provides an SQL-like interface to query and analyze data, making it easier for researchers and analysts to extract meaningful insights from complex weather datasets.</a:t>
            </a:r>
          </a:p>
          <a:p>
            <a:r>
              <a:rPr lang="en-US" sz="2400" dirty="0">
                <a:latin typeface="Times New Roman" panose="02020603050405020304" pitchFamily="18" charset="0"/>
                <a:cs typeface="Times New Roman" panose="02020603050405020304" pitchFamily="18" charset="0"/>
              </a:rPr>
              <a:t>This project leverages these technologies to perform comprehensive weather data analysis. By examining parameters such as temperature, rainfall, humidity, wind speed, and atmospheric pressure, the system can identify climate trends, seasonal patterns, and extreme weather events. Such analysis not only enhances the accuracy of weather forecasting but also supports data-driven decision-making in agriculture, disaster management, urban planning, and other sectors affected by climatic conditions. Ultimately, integrating Big Data technologies with meteorological data enables more informed, timely, and strategic responses to the challenges posed by a changing climate.</a:t>
            </a:r>
          </a:p>
        </p:txBody>
      </p:sp>
      <p:sp>
        <p:nvSpPr>
          <p:cNvPr id="3" name="TextBox 3"/>
          <p:cNvSpPr txBox="1"/>
          <p:nvPr/>
        </p:nvSpPr>
        <p:spPr>
          <a:xfrm>
            <a:off x="2999625" y="904875"/>
            <a:ext cx="12288749" cy="1047750"/>
          </a:xfrm>
          <a:prstGeom prst="rect">
            <a:avLst/>
          </a:prstGeom>
        </p:spPr>
        <p:txBody>
          <a:bodyPr lIns="0" tIns="0" rIns="0" bIns="0" rtlCol="0" anchor="t">
            <a:spAutoFit/>
          </a:bodyPr>
          <a:lstStyle/>
          <a:p>
            <a:pPr algn="ctr">
              <a:lnSpc>
                <a:spcPts val="7200"/>
              </a:lnSpc>
            </a:pPr>
            <a:r>
              <a:rPr lang="en-US" sz="9000" b="1">
                <a:solidFill>
                  <a:srgbClr val="252930"/>
                </a:solidFill>
                <a:latin typeface="Maven Pro Bold"/>
                <a:ea typeface="Maven Pro Bold"/>
                <a:cs typeface="Maven Pro Bold"/>
                <a:sym typeface="Maven Pro Bold"/>
              </a:rPr>
              <a:t>INTRODUCTION</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0" y="1527600"/>
          <a:ext cx="18288000" cy="8759400"/>
        </p:xfrm>
        <a:graphic>
          <a:graphicData uri="http://schemas.openxmlformats.org/drawingml/2006/table">
            <a:tbl>
              <a:tblPr/>
              <a:tblGrid>
                <a:gridCol w="3897248">
                  <a:extLst>
                    <a:ext uri="{9D8B030D-6E8A-4147-A177-3AD203B41FA5}">
                      <a16:colId xmlns:a16="http://schemas.microsoft.com/office/drawing/2014/main" val="20000"/>
                    </a:ext>
                  </a:extLst>
                </a:gridCol>
                <a:gridCol w="4490878">
                  <a:extLst>
                    <a:ext uri="{9D8B030D-6E8A-4147-A177-3AD203B41FA5}">
                      <a16:colId xmlns:a16="http://schemas.microsoft.com/office/drawing/2014/main" val="20001"/>
                    </a:ext>
                  </a:extLst>
                </a:gridCol>
                <a:gridCol w="4428154">
                  <a:extLst>
                    <a:ext uri="{9D8B030D-6E8A-4147-A177-3AD203B41FA5}">
                      <a16:colId xmlns:a16="http://schemas.microsoft.com/office/drawing/2014/main" val="20002"/>
                    </a:ext>
                  </a:extLst>
                </a:gridCol>
                <a:gridCol w="5471720">
                  <a:extLst>
                    <a:ext uri="{9D8B030D-6E8A-4147-A177-3AD203B41FA5}">
                      <a16:colId xmlns:a16="http://schemas.microsoft.com/office/drawing/2014/main" val="20003"/>
                    </a:ext>
                  </a:extLst>
                </a:gridCol>
              </a:tblGrid>
              <a:tr h="2080387">
                <a:tc>
                  <a:txBody>
                    <a:bodyPr/>
                    <a:lstStyle/>
                    <a:p>
                      <a:pPr algn="ctr">
                        <a:lnSpc>
                          <a:spcPts val="3919"/>
                        </a:lnSpc>
                        <a:defRPr/>
                      </a:pPr>
                      <a:r>
                        <a:rPr lang="en-US" sz="2799" b="1">
                          <a:solidFill>
                            <a:srgbClr val="000000"/>
                          </a:solidFill>
                          <a:latin typeface="Maven Pro Bold"/>
                          <a:ea typeface="Maven Pro Bold"/>
                          <a:cs typeface="Maven Pro Bold"/>
                          <a:sym typeface="Maven Pro Bold"/>
                        </a:rPr>
                        <a:t>Paper Link</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919"/>
                        </a:lnSpc>
                        <a:defRPr/>
                      </a:pPr>
                      <a:r>
                        <a:rPr lang="en-US" sz="2799" b="1">
                          <a:solidFill>
                            <a:srgbClr val="000000"/>
                          </a:solidFill>
                          <a:latin typeface="Canva Sans Bold"/>
                          <a:ea typeface="Canva Sans Bold"/>
                          <a:cs typeface="Canva Sans Bold"/>
                          <a:sym typeface="Canva Sans Bold"/>
                        </a:rPr>
                        <a:t>Author</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919"/>
                        </a:lnSpc>
                        <a:defRPr/>
                      </a:pPr>
                      <a:r>
                        <a:rPr lang="en-US" sz="2799" b="1">
                          <a:solidFill>
                            <a:srgbClr val="000000"/>
                          </a:solidFill>
                          <a:latin typeface="Canva Sans Bold"/>
                          <a:ea typeface="Canva Sans Bold"/>
                          <a:cs typeface="Canva Sans Bold"/>
                          <a:sym typeface="Canva Sans Bold"/>
                        </a:rPr>
                        <a:t>Future Directions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919"/>
                        </a:lnSpc>
                        <a:defRPr/>
                      </a:pPr>
                      <a:r>
                        <a:rPr lang="en-US" sz="2799" b="1">
                          <a:solidFill>
                            <a:srgbClr val="000000"/>
                          </a:solidFill>
                          <a:latin typeface="Canva Sans Bold"/>
                          <a:ea typeface="Canva Sans Bold"/>
                          <a:cs typeface="Canva Sans Bold"/>
                          <a:sym typeface="Canva Sans Bold"/>
                        </a:rPr>
                        <a:t>Drawbacks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extLst>
                  <a:ext uri="{0D108BD9-81ED-4DB2-BD59-A6C34878D82A}">
                    <a16:rowId xmlns:a16="http://schemas.microsoft.com/office/drawing/2014/main" val="10000"/>
                  </a:ext>
                </a:extLst>
              </a:tr>
              <a:tr h="2009930">
                <a:tc>
                  <a:txBody>
                    <a:bodyPr/>
                    <a:lstStyle/>
                    <a:p>
                      <a:pPr algn="ctr">
                        <a:lnSpc>
                          <a:spcPts val="2520"/>
                        </a:lnSpc>
                        <a:defRPr/>
                      </a:pPr>
                      <a:r>
                        <a:rPr lang="en-US" sz="1800" u="sng">
                          <a:solidFill>
                            <a:srgbClr val="000000"/>
                          </a:solidFill>
                          <a:latin typeface="Maven Pro"/>
                          <a:ea typeface="Maven Pro"/>
                          <a:cs typeface="Maven Pro"/>
                          <a:sym typeface="Maven Pro"/>
                          <a:hlinkClick r:id="rId2" tooltip="https://www.ijert.org/big-data-in-weather-forecasting?utm_source=chatgpt.com"/>
                        </a:rPr>
                        <a:t>https://www.ijert.org/big-data-in-weather-forecasting?utm_source=chatgpt.com</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Maven Pro"/>
                          <a:ea typeface="Maven Pro"/>
                          <a:cs typeface="Maven Pro"/>
                          <a:sym typeface="Maven Pro"/>
                        </a:rPr>
                        <a:t>Vaishnavi P.N. et al., 2020</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Maven Pro"/>
                          <a:ea typeface="Maven Pro"/>
                          <a:cs typeface="Maven Pro"/>
                          <a:sym typeface="Maven Pro"/>
                        </a:rPr>
                        <a:t>Integrate real-time frameworks like Spark/Kafka</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Maven Pro"/>
                          <a:ea typeface="Maven Pro"/>
                          <a:cs typeface="Maven Pro"/>
                          <a:sym typeface="Maven Pro"/>
                        </a:rPr>
                        <a:t>Focus on MapReduce only; slow for real-time</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1"/>
                  </a:ext>
                </a:extLst>
              </a:tr>
              <a:tr h="2325306">
                <a:tc>
                  <a:txBody>
                    <a:bodyPr/>
                    <a:lstStyle/>
                    <a:p>
                      <a:pPr algn="ctr">
                        <a:lnSpc>
                          <a:spcPts val="2520"/>
                        </a:lnSpc>
                        <a:defRPr/>
                      </a:pPr>
                      <a:r>
                        <a:rPr lang="en-US" sz="1800" u="sng">
                          <a:solidFill>
                            <a:srgbClr val="000000"/>
                          </a:solidFill>
                          <a:latin typeface="Maven Pro"/>
                          <a:ea typeface="Maven Pro"/>
                          <a:cs typeface="Maven Pro"/>
                          <a:sym typeface="Maven Pro"/>
                          <a:hlinkClick r:id="rId3" tooltip="https://link.springer.com/chapter/10.1007/978-3-030-41593-8_13"/>
                        </a:rPr>
                        <a:t>https://link.springer.com/chapter/10.1007/978-3-030-41593-8_13</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Hussein et al., AFRICOMM 2019</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Maven Pro"/>
                          <a:ea typeface="Maven Pro"/>
                          <a:cs typeface="Maven Pro"/>
                          <a:sym typeface="Maven Pro"/>
                        </a:rPr>
                        <a:t>Add advanced climate analytics models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Canva Sans"/>
                          <a:ea typeface="Canva Sans"/>
                          <a:cs typeface="Canva Sans"/>
                          <a:sym typeface="Canva Sans"/>
                        </a:rPr>
                        <a:t>Limited to satellite data classification</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2"/>
                  </a:ext>
                </a:extLst>
              </a:tr>
              <a:tr h="2343777">
                <a:tc>
                  <a:txBody>
                    <a:bodyPr/>
                    <a:lstStyle/>
                    <a:p>
                      <a:pPr algn="ctr">
                        <a:lnSpc>
                          <a:spcPts val="2520"/>
                        </a:lnSpc>
                        <a:defRPr/>
                      </a:pPr>
                      <a:r>
                        <a:rPr lang="en-US" sz="1800" u="sng">
                          <a:solidFill>
                            <a:srgbClr val="000000"/>
                          </a:solidFill>
                          <a:latin typeface="Maven Pro"/>
                          <a:ea typeface="Maven Pro"/>
                          <a:cs typeface="Maven Pro"/>
                          <a:sym typeface="Maven Pro"/>
                          <a:hlinkClick r:id="rId4" action="ppaction://hlinksldjump"/>
                        </a:rPr>
                        <a:t>https://www.mdpi.com/2073-4433/11/8/870?utm_source=chatgpt.com</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Wei &amp; Chou, MDPI 2020</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Maven Pro"/>
                          <a:ea typeface="Maven Pro"/>
                          <a:cs typeface="Maven Pro"/>
                          <a:sym typeface="Maven Pro"/>
                        </a:rPr>
                        <a:t>Optimize distributed processing pipelines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Maven Pro"/>
                          <a:ea typeface="Maven Pro"/>
                          <a:cs typeface="Maven Pro"/>
                          <a:sym typeface="Maven Pro"/>
                        </a:rPr>
                        <a:t>Heavy computation for machine learning</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3"/>
          <p:cNvSpPr txBox="1"/>
          <p:nvPr/>
        </p:nvSpPr>
        <p:spPr>
          <a:xfrm>
            <a:off x="3550393" y="-24975"/>
            <a:ext cx="11739761" cy="1376915"/>
          </a:xfrm>
          <a:prstGeom prst="rect">
            <a:avLst/>
          </a:prstGeom>
        </p:spPr>
        <p:txBody>
          <a:bodyPr lIns="0" tIns="0" rIns="0" bIns="0" rtlCol="0" anchor="t">
            <a:spAutoFit/>
          </a:bodyPr>
          <a:lstStyle/>
          <a:p>
            <a:pPr algn="ctr">
              <a:lnSpc>
                <a:spcPts val="12599"/>
              </a:lnSpc>
              <a:spcBef>
                <a:spcPct val="0"/>
              </a:spcBef>
            </a:pPr>
            <a:r>
              <a:rPr lang="en-US" sz="6000" b="1" dirty="0">
                <a:solidFill>
                  <a:srgbClr val="000000"/>
                </a:solidFill>
                <a:latin typeface="Maven Pro Bold"/>
                <a:ea typeface="Maven Pro Bold"/>
                <a:cs typeface="Maven Pro Bold"/>
                <a:sym typeface="Maven Pro Bold"/>
              </a:rPr>
              <a:t>LITERATURE SURVEY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85504767"/>
              </p:ext>
            </p:extLst>
          </p:nvPr>
        </p:nvGraphicFramePr>
        <p:xfrm>
          <a:off x="0" y="1884696"/>
          <a:ext cx="18288000" cy="8402305"/>
        </p:xfrm>
        <a:graphic>
          <a:graphicData uri="http://schemas.openxmlformats.org/drawingml/2006/table">
            <a:tbl>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1938656">
                <a:tc>
                  <a:txBody>
                    <a:bodyPr/>
                    <a:lstStyle/>
                    <a:p>
                      <a:pPr algn="ctr">
                        <a:lnSpc>
                          <a:spcPts val="3919"/>
                        </a:lnSpc>
                        <a:defRPr/>
                      </a:pPr>
                      <a:r>
                        <a:rPr lang="en-US" sz="2799" b="1">
                          <a:solidFill>
                            <a:srgbClr val="000000"/>
                          </a:solidFill>
                          <a:latin typeface="Arimo Bold"/>
                          <a:ea typeface="Arimo Bold"/>
                          <a:cs typeface="Arimo Bold"/>
                          <a:sym typeface="Arimo Bold"/>
                        </a:rPr>
                        <a:t>Paper Link</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919"/>
                        </a:lnSpc>
                        <a:defRPr/>
                      </a:pPr>
                      <a:r>
                        <a:rPr lang="en-US" sz="2799" b="1">
                          <a:solidFill>
                            <a:srgbClr val="000000"/>
                          </a:solidFill>
                          <a:latin typeface="Arimo Bold"/>
                          <a:ea typeface="Arimo Bold"/>
                          <a:cs typeface="Arimo Bold"/>
                          <a:sym typeface="Arimo Bold"/>
                        </a:rPr>
                        <a:t>Author</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919"/>
                        </a:lnSpc>
                        <a:defRPr/>
                      </a:pPr>
                      <a:r>
                        <a:rPr lang="en-US" sz="2799" b="1">
                          <a:solidFill>
                            <a:srgbClr val="000000"/>
                          </a:solidFill>
                          <a:latin typeface="Maven Pro Bold"/>
                          <a:ea typeface="Maven Pro Bold"/>
                          <a:cs typeface="Maven Pro Bold"/>
                          <a:sym typeface="Maven Pro Bold"/>
                        </a:rPr>
                        <a:t>Future Directions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919"/>
                        </a:lnSpc>
                        <a:defRPr/>
                      </a:pPr>
                      <a:r>
                        <a:rPr lang="en-US" sz="2799" b="1">
                          <a:solidFill>
                            <a:srgbClr val="000000"/>
                          </a:solidFill>
                          <a:latin typeface="Maven Pro Bold"/>
                          <a:ea typeface="Maven Pro Bold"/>
                          <a:cs typeface="Maven Pro Bold"/>
                          <a:sym typeface="Maven Pro Bold"/>
                        </a:rPr>
                        <a:t>Drawbacks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extLst>
                  <a:ext uri="{0D108BD9-81ED-4DB2-BD59-A6C34878D82A}">
                    <a16:rowId xmlns:a16="http://schemas.microsoft.com/office/drawing/2014/main" val="10000"/>
                  </a:ext>
                </a:extLst>
              </a:tr>
              <a:tr h="2064424">
                <a:tc>
                  <a:txBody>
                    <a:bodyPr/>
                    <a:lstStyle/>
                    <a:p>
                      <a:pPr algn="ctr">
                        <a:lnSpc>
                          <a:spcPts val="2520"/>
                        </a:lnSpc>
                        <a:defRPr/>
                      </a:pPr>
                      <a:r>
                        <a:rPr lang="en-US" sz="1800" u="sng" dirty="0">
                          <a:solidFill>
                            <a:srgbClr val="000000"/>
                          </a:solidFill>
                          <a:latin typeface="Maven Pro"/>
                          <a:ea typeface="Maven Pro"/>
                          <a:cs typeface="Maven Pro"/>
                          <a:sym typeface="Maven Pro"/>
                          <a:hlinkClick r:id="rId2" action="ppaction://hlinkpres?slideindex=1&amp;slidetitle="/>
                        </a:rPr>
                        <a:t>https://ieeexplore.ieee.org/document/8103164</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IEEE Authors (2017)</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Canva Sans"/>
                          <a:ea typeface="Canva Sans"/>
                          <a:cs typeface="Canva Sans"/>
                          <a:sym typeface="Canva Sans"/>
                        </a:rPr>
                        <a:t>Combine with Spark Streaming &amp; machine learning</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Canva Sans"/>
                          <a:ea typeface="Canva Sans"/>
                          <a:cs typeface="Canva Sans"/>
                          <a:sym typeface="Canva Sans"/>
                        </a:rPr>
                        <a:t>MapReduce focus only; slow for realtime processing</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1"/>
                  </a:ext>
                </a:extLst>
              </a:tr>
              <a:tr h="2064424">
                <a:tc>
                  <a:txBody>
                    <a:bodyPr/>
                    <a:lstStyle/>
                    <a:p>
                      <a:pPr algn="ctr">
                        <a:lnSpc>
                          <a:spcPts val="2520"/>
                        </a:lnSpc>
                        <a:defRPr/>
                      </a:pPr>
                      <a:r>
                        <a:rPr lang="en-US" sz="1800" u="sng" dirty="0">
                          <a:solidFill>
                            <a:srgbClr val="000000"/>
                          </a:solidFill>
                          <a:latin typeface="Maven Pro"/>
                          <a:ea typeface="Maven Pro"/>
                          <a:cs typeface="Maven Pro"/>
                          <a:sym typeface="Maven Pro"/>
                          <a:hlinkClick r:id="rId2" action="ppaction://hlinkpres?slideindex=1&amp;slidetitle="/>
                        </a:rPr>
                        <a:t>https://www.sciencedirect.com/science/article/pii/S1877050920304962</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ScienceDirect Authors (2020)</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Use hybrid engines and indexing for fast queries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Limited to batch analysis; not optimized for mixed workloads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2"/>
                  </a:ext>
                </a:extLst>
              </a:tr>
              <a:tr h="2334801">
                <a:tc>
                  <a:txBody>
                    <a:bodyPr/>
                    <a:lstStyle/>
                    <a:p>
                      <a:pPr algn="ctr">
                        <a:lnSpc>
                          <a:spcPts val="2520"/>
                        </a:lnSpc>
                        <a:defRPr/>
                      </a:pPr>
                      <a:r>
                        <a:rPr lang="en-US" sz="1800" u="sng" dirty="0">
                          <a:solidFill>
                            <a:srgbClr val="000000"/>
                          </a:solidFill>
                          <a:latin typeface="Maven Pro"/>
                          <a:ea typeface="Maven Pro"/>
                          <a:cs typeface="Maven Pro"/>
                          <a:sym typeface="Maven Pro"/>
                          <a:hlinkClick r:id="rId2" action="ppaction://hlinkpres?slideindex=1&amp;slidetitle="/>
                        </a:rPr>
                        <a:t>https://www.mdpi.com/2073-4441/12/3/776</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MDPI Authors (2020)</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Extend with Hive + ML models for pattern discovery</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dirty="0">
                          <a:solidFill>
                            <a:srgbClr val="000000"/>
                          </a:solidFill>
                          <a:latin typeface="Maven Pro"/>
                          <a:ea typeface="Maven Pro"/>
                          <a:cs typeface="Maven Pro"/>
                          <a:sym typeface="Maven Pro"/>
                        </a:rPr>
                        <a:t>Focuses more on forecasting; less deep analytics</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3"/>
          <p:cNvSpPr txBox="1"/>
          <p:nvPr/>
        </p:nvSpPr>
        <p:spPr>
          <a:xfrm>
            <a:off x="3702793" y="127425"/>
            <a:ext cx="11739761" cy="1376915"/>
          </a:xfrm>
          <a:prstGeom prst="rect">
            <a:avLst/>
          </a:prstGeom>
        </p:spPr>
        <p:txBody>
          <a:bodyPr lIns="0" tIns="0" rIns="0" bIns="0" rtlCol="0" anchor="t">
            <a:spAutoFit/>
          </a:bodyPr>
          <a:lstStyle/>
          <a:p>
            <a:pPr algn="ctr">
              <a:lnSpc>
                <a:spcPts val="12599"/>
              </a:lnSpc>
              <a:spcBef>
                <a:spcPct val="0"/>
              </a:spcBef>
            </a:pPr>
            <a:r>
              <a:rPr lang="en-US" sz="6000" b="1" dirty="0">
                <a:solidFill>
                  <a:srgbClr val="000000"/>
                </a:solidFill>
                <a:latin typeface="Maven Pro Bold"/>
                <a:ea typeface="Maven Pro Bold"/>
                <a:cs typeface="Maven Pro Bold"/>
                <a:sym typeface="Maven Pro Bold"/>
              </a:rPr>
              <a:t>LITERATURE SURVEY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DCCBADCA-E752-6212-BCA5-922C75F2035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B59C628-9314-8308-E3B3-0C25D54BDE89}"/>
              </a:ext>
            </a:extLst>
          </p:cNvPr>
          <p:cNvSpPr txBox="1"/>
          <p:nvPr/>
        </p:nvSpPr>
        <p:spPr>
          <a:xfrm>
            <a:off x="1503816" y="3223115"/>
            <a:ext cx="16527944" cy="4924425"/>
          </a:xfrm>
          <a:prstGeom prst="rect">
            <a:avLst/>
          </a:prstGeom>
        </p:spPr>
        <p:txBody>
          <a:bodyPr lIns="0" tIns="0" rIns="0" bIns="0" rtlCol="0" anchor="t">
            <a:spAutoFit/>
          </a:bodyPr>
          <a:lstStyle/>
          <a:p>
            <a:r>
              <a:rPr lang="en-US" sz="3200" dirty="0">
                <a:latin typeface="Times New Roman" panose="02020603050405020304" pitchFamily="18" charset="0"/>
                <a:cs typeface="Times New Roman" panose="02020603050405020304" pitchFamily="18" charset="0"/>
              </a:rPr>
              <a:t>“In the existing system, weather data is usually stored in traditional relational databases and processed using conventional data processing techniques.”</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Limitations: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Limited scalability</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Slow performance for large datasets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High maintenance cost</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Inefficient processing for big data</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“These limitations make it difficult to analyze weather data efficiently.”</a:t>
            </a:r>
          </a:p>
        </p:txBody>
      </p:sp>
      <p:sp>
        <p:nvSpPr>
          <p:cNvPr id="3" name="TextBox 3">
            <a:extLst>
              <a:ext uri="{FF2B5EF4-FFF2-40B4-BE49-F238E27FC236}">
                <a16:creationId xmlns:a16="http://schemas.microsoft.com/office/drawing/2014/main" id="{A4D4E75A-197A-7EAA-F49F-9627E0E1FFC7}"/>
              </a:ext>
            </a:extLst>
          </p:cNvPr>
          <p:cNvSpPr txBox="1"/>
          <p:nvPr/>
        </p:nvSpPr>
        <p:spPr>
          <a:xfrm>
            <a:off x="2999625" y="904875"/>
            <a:ext cx="12288749" cy="940001"/>
          </a:xfrm>
          <a:prstGeom prst="rect">
            <a:avLst/>
          </a:prstGeom>
        </p:spPr>
        <p:txBody>
          <a:bodyPr lIns="0" tIns="0" rIns="0" bIns="0" rtlCol="0" anchor="t">
            <a:spAutoFit/>
          </a:bodyPr>
          <a:lstStyle/>
          <a:p>
            <a:pPr algn="ctr">
              <a:lnSpc>
                <a:spcPts val="7200"/>
              </a:lnSpc>
            </a:pPr>
            <a:r>
              <a:rPr lang="en-US" sz="9000" b="1" dirty="0">
                <a:solidFill>
                  <a:srgbClr val="252930"/>
                </a:solidFill>
                <a:latin typeface="Maven Pro Bold"/>
                <a:ea typeface="Maven Pro Bold"/>
                <a:cs typeface="Maven Pro Bold"/>
                <a:sym typeface="Maven Pro Bold"/>
              </a:rPr>
              <a:t>EXISTING SYSTEM</a:t>
            </a:r>
          </a:p>
        </p:txBody>
      </p:sp>
      <p:sp>
        <p:nvSpPr>
          <p:cNvPr id="4" name="Freeform 4">
            <a:extLst>
              <a:ext uri="{FF2B5EF4-FFF2-40B4-BE49-F238E27FC236}">
                <a16:creationId xmlns:a16="http://schemas.microsoft.com/office/drawing/2014/main" id="{BA665AE3-8ACE-5E38-4764-60D670320886}"/>
              </a:ext>
            </a:extLst>
          </p:cNvPr>
          <p:cNvSpPr/>
          <p:nvPr/>
        </p:nvSpPr>
        <p:spPr>
          <a:xfrm flipH="1">
            <a:off x="-33670" y="-114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23BE7478-C075-E04D-7695-B656EE2ED583}"/>
              </a:ext>
            </a:extLst>
          </p:cNvPr>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58628E50-B983-B32F-C64D-1AD1107C2ED9}"/>
              </a:ext>
            </a:extLst>
          </p:cNvPr>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2664858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FCA7A3EB-BF8F-6342-AF08-629C819FD09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476A590-E860-CCCE-1E6F-0DCB2EE209DA}"/>
              </a:ext>
            </a:extLst>
          </p:cNvPr>
          <p:cNvSpPr txBox="1"/>
          <p:nvPr/>
        </p:nvSpPr>
        <p:spPr>
          <a:xfrm>
            <a:off x="1503816" y="2952905"/>
            <a:ext cx="16527944" cy="6401753"/>
          </a:xfrm>
          <a:prstGeom prst="rect">
            <a:avLst/>
          </a:prstGeom>
        </p:spPr>
        <p:txBody>
          <a:bodyPr lIns="0" tIns="0" rIns="0" bIns="0" rtlCol="0" anchor="t">
            <a:spAutoFit/>
          </a:bodyPr>
          <a:lstStyle/>
          <a:p>
            <a:r>
              <a:rPr lang="en-US" sz="3200" dirty="0"/>
              <a:t>“Our proposed system uses the Hadoop ecosystem to overcome the limitations of the existing system.”</a:t>
            </a:r>
          </a:p>
          <a:p>
            <a:endParaRPr lang="en-US" sz="3200" dirty="0"/>
          </a:p>
          <a:p>
            <a:r>
              <a:rPr lang="en-US" sz="3200" dirty="0"/>
              <a:t>The proposed system:</a:t>
            </a:r>
          </a:p>
          <a:p>
            <a:pPr marL="457200" indent="-457200">
              <a:buFont typeface="Arial" panose="020B0604020202020204" pitchFamily="34" charset="0"/>
              <a:buChar char="•"/>
            </a:pPr>
            <a:r>
              <a:rPr lang="en-US" sz="3200" dirty="0"/>
              <a:t>Stores weather data in distributed storage</a:t>
            </a:r>
          </a:p>
          <a:p>
            <a:pPr marL="457200" indent="-457200">
              <a:buFont typeface="Arial" panose="020B0604020202020204" pitchFamily="34" charset="0"/>
              <a:buChar char="•"/>
            </a:pPr>
            <a:r>
              <a:rPr lang="en-US" sz="3200" dirty="0"/>
              <a:t>Processes large datasets using parallel processing</a:t>
            </a:r>
          </a:p>
          <a:p>
            <a:pPr marL="457200" indent="-457200">
              <a:buFont typeface="Arial" panose="020B0604020202020204" pitchFamily="34" charset="0"/>
              <a:buChar char="•"/>
            </a:pPr>
            <a:r>
              <a:rPr lang="en-US" sz="3200" dirty="0"/>
              <a:t>Uses query tools for data analysis</a:t>
            </a:r>
          </a:p>
          <a:p>
            <a:pPr marL="457200" indent="-457200">
              <a:buFont typeface="Arial" panose="020B0604020202020204" pitchFamily="34" charset="0"/>
              <a:buChar char="•"/>
            </a:pPr>
            <a:endParaRPr lang="en-US" sz="3200" dirty="0"/>
          </a:p>
          <a:p>
            <a:r>
              <a:rPr lang="en-US" sz="3200" dirty="0"/>
              <a:t>Advantages:</a:t>
            </a:r>
          </a:p>
          <a:p>
            <a:pPr marL="457200" indent="-457200">
              <a:buFont typeface="Arial" panose="020B0604020202020204" pitchFamily="34" charset="0"/>
              <a:buChar char="•"/>
            </a:pPr>
            <a:r>
              <a:rPr lang="en-US" sz="3200" dirty="0"/>
              <a:t>High scalability</a:t>
            </a:r>
          </a:p>
          <a:p>
            <a:pPr marL="457200" indent="-457200">
              <a:buFont typeface="Arial" panose="020B0604020202020204" pitchFamily="34" charset="0"/>
              <a:buChar char="•"/>
            </a:pPr>
            <a:r>
              <a:rPr lang="en-US" sz="3200" dirty="0"/>
              <a:t>Faster processing</a:t>
            </a:r>
          </a:p>
          <a:p>
            <a:pPr marL="457200" indent="-457200">
              <a:buFont typeface="Arial" panose="020B0604020202020204" pitchFamily="34" charset="0"/>
              <a:buChar char="•"/>
            </a:pPr>
            <a:r>
              <a:rPr lang="en-US" sz="3200" dirty="0"/>
              <a:t>Fault tolerance</a:t>
            </a:r>
          </a:p>
          <a:p>
            <a:pPr marL="457200" indent="-457200">
              <a:buFont typeface="Arial" panose="020B0604020202020204" pitchFamily="34" charset="0"/>
              <a:buChar char="•"/>
            </a:pPr>
            <a:r>
              <a:rPr lang="en-US" sz="3200" dirty="0"/>
              <a:t>Cost-effective infrastructure</a:t>
            </a:r>
          </a:p>
        </p:txBody>
      </p:sp>
      <p:sp>
        <p:nvSpPr>
          <p:cNvPr id="3" name="TextBox 3">
            <a:extLst>
              <a:ext uri="{FF2B5EF4-FFF2-40B4-BE49-F238E27FC236}">
                <a16:creationId xmlns:a16="http://schemas.microsoft.com/office/drawing/2014/main" id="{E453754D-6838-9F69-500F-B98128E25C53}"/>
              </a:ext>
            </a:extLst>
          </p:cNvPr>
          <p:cNvSpPr txBox="1"/>
          <p:nvPr/>
        </p:nvSpPr>
        <p:spPr>
          <a:xfrm>
            <a:off x="2999625" y="904875"/>
            <a:ext cx="12288749" cy="940001"/>
          </a:xfrm>
          <a:prstGeom prst="rect">
            <a:avLst/>
          </a:prstGeom>
        </p:spPr>
        <p:txBody>
          <a:bodyPr lIns="0" tIns="0" rIns="0" bIns="0" rtlCol="0" anchor="t">
            <a:spAutoFit/>
          </a:bodyPr>
          <a:lstStyle/>
          <a:p>
            <a:pPr algn="ctr">
              <a:lnSpc>
                <a:spcPts val="7200"/>
              </a:lnSpc>
            </a:pPr>
            <a:r>
              <a:rPr lang="en-US" sz="9000" b="1" dirty="0">
                <a:solidFill>
                  <a:srgbClr val="252930"/>
                </a:solidFill>
                <a:latin typeface="Maven Pro Bold"/>
                <a:ea typeface="Maven Pro Bold"/>
                <a:cs typeface="Maven Pro Bold"/>
                <a:sym typeface="Maven Pro Bold"/>
              </a:rPr>
              <a:t>PROPOSED SYSTEM</a:t>
            </a:r>
          </a:p>
        </p:txBody>
      </p:sp>
      <p:sp>
        <p:nvSpPr>
          <p:cNvPr id="4" name="Freeform 4">
            <a:extLst>
              <a:ext uri="{FF2B5EF4-FFF2-40B4-BE49-F238E27FC236}">
                <a16:creationId xmlns:a16="http://schemas.microsoft.com/office/drawing/2014/main" id="{6D913927-0633-5C5D-71DB-985CCBCA4FB7}"/>
              </a:ext>
            </a:extLst>
          </p:cNvPr>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F4137E2B-0CE0-605B-9879-6A6CBF2C29F2}"/>
              </a:ext>
            </a:extLst>
          </p:cNvPr>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3D8429E9-401F-F361-D43F-EFE4C00E0BE6}"/>
              </a:ext>
            </a:extLst>
          </p:cNvPr>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1026847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EA6E4202-5CF6-E81E-5FCD-23EB49663E5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E5F5696-2F03-2463-D1DF-2D50A702A0F5}"/>
              </a:ext>
            </a:extLst>
          </p:cNvPr>
          <p:cNvSpPr txBox="1"/>
          <p:nvPr/>
        </p:nvSpPr>
        <p:spPr>
          <a:xfrm>
            <a:off x="1600200" y="3086100"/>
            <a:ext cx="16527944" cy="3447098"/>
          </a:xfrm>
          <a:prstGeom prst="rect">
            <a:avLst/>
          </a:prstGeom>
        </p:spPr>
        <p:txBody>
          <a:bodyPr lIns="0" tIns="0" rIns="0" bIns="0" rtlCol="0" anchor="t">
            <a:spAutoFit/>
          </a:bodyPr>
          <a:lstStyle/>
          <a:p>
            <a:r>
              <a:rPr lang="en-US" sz="3200" dirty="0"/>
              <a:t>“The main objectives of our project are:”</a:t>
            </a:r>
          </a:p>
          <a:p>
            <a:endParaRPr lang="en-US" sz="3200" dirty="0"/>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store large-scale weather datasets efficiently</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process weather data using distributed computing</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analyze climate parameters such as temperature and rainfall</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identify patterns and trends in weather data</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improve efficiency and scalability of weather data analysis</a:t>
            </a:r>
          </a:p>
        </p:txBody>
      </p:sp>
      <p:sp>
        <p:nvSpPr>
          <p:cNvPr id="3" name="TextBox 3">
            <a:extLst>
              <a:ext uri="{FF2B5EF4-FFF2-40B4-BE49-F238E27FC236}">
                <a16:creationId xmlns:a16="http://schemas.microsoft.com/office/drawing/2014/main" id="{43C1FEA9-E654-BE56-C72D-4D3B06C9A7F7}"/>
              </a:ext>
            </a:extLst>
          </p:cNvPr>
          <p:cNvSpPr txBox="1"/>
          <p:nvPr/>
        </p:nvSpPr>
        <p:spPr>
          <a:xfrm>
            <a:off x="2999625" y="904875"/>
            <a:ext cx="12288749" cy="940001"/>
          </a:xfrm>
          <a:prstGeom prst="rect">
            <a:avLst/>
          </a:prstGeom>
        </p:spPr>
        <p:txBody>
          <a:bodyPr lIns="0" tIns="0" rIns="0" bIns="0" rtlCol="0" anchor="t">
            <a:spAutoFit/>
          </a:bodyPr>
          <a:lstStyle/>
          <a:p>
            <a:pPr algn="ctr">
              <a:lnSpc>
                <a:spcPts val="7200"/>
              </a:lnSpc>
            </a:pPr>
            <a:r>
              <a:rPr lang="en-US" sz="9000" b="1" dirty="0">
                <a:solidFill>
                  <a:srgbClr val="252930"/>
                </a:solidFill>
                <a:latin typeface="Maven Pro Bold"/>
                <a:ea typeface="Maven Pro Bold"/>
                <a:cs typeface="Maven Pro Bold"/>
                <a:sym typeface="Maven Pro Bold"/>
              </a:rPr>
              <a:t>OBJECTIVES</a:t>
            </a:r>
          </a:p>
        </p:txBody>
      </p:sp>
      <p:sp>
        <p:nvSpPr>
          <p:cNvPr id="4" name="Freeform 4">
            <a:extLst>
              <a:ext uri="{FF2B5EF4-FFF2-40B4-BE49-F238E27FC236}">
                <a16:creationId xmlns:a16="http://schemas.microsoft.com/office/drawing/2014/main" id="{699869AE-BF78-57B5-EA94-5222FE20196F}"/>
              </a:ext>
            </a:extLst>
          </p:cNvPr>
          <p:cNvSpPr/>
          <p:nvPr/>
        </p:nvSpPr>
        <p:spPr>
          <a:xfrm flipH="1">
            <a:off x="0" y="-114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1590E7FA-A8B3-1EBC-B47E-68FC5BA8123C}"/>
              </a:ext>
            </a:extLst>
          </p:cNvPr>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11700D21-9A25-210B-93D0-A2C743952E92}"/>
              </a:ext>
            </a:extLst>
          </p:cNvPr>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561490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5ABA6B71-F5FB-2E7D-C16E-9E00D8C25F9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5C494654-2449-51C2-B361-F89163481C00}"/>
              </a:ext>
            </a:extLst>
          </p:cNvPr>
          <p:cNvSpPr txBox="1"/>
          <p:nvPr/>
        </p:nvSpPr>
        <p:spPr>
          <a:xfrm>
            <a:off x="2999625" y="342900"/>
            <a:ext cx="12288749" cy="923330"/>
          </a:xfrm>
          <a:prstGeom prst="rect">
            <a:avLst/>
          </a:prstGeom>
        </p:spPr>
        <p:txBody>
          <a:bodyPr lIns="0" tIns="0" rIns="0" bIns="0" rtlCol="0" anchor="t">
            <a:spAutoFit/>
          </a:bodyPr>
          <a:lstStyle/>
          <a:p>
            <a:pPr algn="ctr">
              <a:lnSpc>
                <a:spcPts val="7200"/>
              </a:lnSpc>
            </a:pPr>
            <a:r>
              <a:rPr lang="en-US" sz="7200" b="1" dirty="0">
                <a:solidFill>
                  <a:srgbClr val="252930"/>
                </a:solidFill>
                <a:latin typeface="Maven Pro Bold"/>
                <a:ea typeface="Maven Pro Bold"/>
                <a:cs typeface="Maven Pro Bold"/>
                <a:sym typeface="Maven Pro Bold"/>
              </a:rPr>
              <a:t>SYSTEM ARCHITECTURE</a:t>
            </a:r>
          </a:p>
        </p:txBody>
      </p:sp>
      <p:sp>
        <p:nvSpPr>
          <p:cNvPr id="4" name="Freeform 4">
            <a:extLst>
              <a:ext uri="{FF2B5EF4-FFF2-40B4-BE49-F238E27FC236}">
                <a16:creationId xmlns:a16="http://schemas.microsoft.com/office/drawing/2014/main" id="{0B61C524-BB83-4FEE-08FD-8E557156B285}"/>
              </a:ext>
            </a:extLst>
          </p:cNvPr>
          <p:cNvSpPr/>
          <p:nvPr/>
        </p:nvSpPr>
        <p:spPr>
          <a:xfrm flipH="1">
            <a:off x="0" y="-114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B720F09D-4CE6-0D50-F78C-635D9F517E9C}"/>
              </a:ext>
            </a:extLst>
          </p:cNvPr>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E94E2163-1966-ABB7-7C77-46A66A126541}"/>
              </a:ext>
            </a:extLst>
          </p:cNvPr>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pic>
        <p:nvPicPr>
          <p:cNvPr id="8" name="Picture 7">
            <a:extLst>
              <a:ext uri="{FF2B5EF4-FFF2-40B4-BE49-F238E27FC236}">
                <a16:creationId xmlns:a16="http://schemas.microsoft.com/office/drawing/2014/main" id="{631CE95B-7C0A-B269-B60F-E5B1516446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76499" y="1302558"/>
            <a:ext cx="13335000" cy="8890000"/>
          </a:xfrm>
          <a:prstGeom prst="rect">
            <a:avLst/>
          </a:prstGeom>
        </p:spPr>
      </p:pic>
    </p:spTree>
    <p:extLst>
      <p:ext uri="{BB962C8B-B14F-4D97-AF65-F5344CB8AC3E}">
        <p14:creationId xmlns:p14="http://schemas.microsoft.com/office/powerpoint/2010/main" val="2734252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1D25A99E-C58D-A162-9609-475D09E194B1}"/>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3C88C057-9F70-7521-0785-F0B0D72985EE}"/>
              </a:ext>
            </a:extLst>
          </p:cNvPr>
          <p:cNvSpPr txBox="1"/>
          <p:nvPr/>
        </p:nvSpPr>
        <p:spPr>
          <a:xfrm>
            <a:off x="2999625" y="419100"/>
            <a:ext cx="12288749" cy="940001"/>
          </a:xfrm>
          <a:prstGeom prst="rect">
            <a:avLst/>
          </a:prstGeom>
        </p:spPr>
        <p:txBody>
          <a:bodyPr lIns="0" tIns="0" rIns="0" bIns="0" rtlCol="0" anchor="t">
            <a:spAutoFit/>
          </a:bodyPr>
          <a:lstStyle/>
          <a:p>
            <a:pPr algn="ctr">
              <a:lnSpc>
                <a:spcPts val="7200"/>
              </a:lnSpc>
            </a:pPr>
            <a:r>
              <a:rPr lang="en-US" sz="9000" b="1" dirty="0">
                <a:solidFill>
                  <a:srgbClr val="252930"/>
                </a:solidFill>
                <a:latin typeface="Maven Pro Bold"/>
                <a:ea typeface="Maven Pro Bold"/>
                <a:cs typeface="Maven Pro Bold"/>
                <a:sym typeface="Maven Pro Bold"/>
              </a:rPr>
              <a:t>ACTIVITY DIAGRAM</a:t>
            </a:r>
          </a:p>
        </p:txBody>
      </p:sp>
      <p:sp>
        <p:nvSpPr>
          <p:cNvPr id="4" name="Freeform 4">
            <a:extLst>
              <a:ext uri="{FF2B5EF4-FFF2-40B4-BE49-F238E27FC236}">
                <a16:creationId xmlns:a16="http://schemas.microsoft.com/office/drawing/2014/main" id="{33D886FC-575C-B5B5-AD0F-440EFF416C73}"/>
              </a:ext>
            </a:extLst>
          </p:cNvPr>
          <p:cNvSpPr/>
          <p:nvPr/>
        </p:nvSpPr>
        <p:spPr>
          <a:xfrm flipH="1">
            <a:off x="0" y="-114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4BFC3CE3-20D8-46DC-4027-AB3364673644}"/>
              </a:ext>
            </a:extLst>
          </p:cNvPr>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FF900D48-D6D6-6552-EEF3-B340987433D0}"/>
              </a:ext>
            </a:extLst>
          </p:cNvPr>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pic>
        <p:nvPicPr>
          <p:cNvPr id="8" name="Picture 7">
            <a:extLst>
              <a:ext uri="{FF2B5EF4-FFF2-40B4-BE49-F238E27FC236}">
                <a16:creationId xmlns:a16="http://schemas.microsoft.com/office/drawing/2014/main" id="{53EE8C91-33CC-3433-9CD0-87338D2E7B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5000" y="1485900"/>
            <a:ext cx="6220569" cy="9334500"/>
          </a:xfrm>
          <a:prstGeom prst="rect">
            <a:avLst/>
          </a:prstGeom>
        </p:spPr>
      </p:pic>
    </p:spTree>
    <p:extLst>
      <p:ext uri="{BB962C8B-B14F-4D97-AF65-F5344CB8AC3E}">
        <p14:creationId xmlns:p14="http://schemas.microsoft.com/office/powerpoint/2010/main" val="2016918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ED5413ED-0F97-1271-DD3A-8B9A90BACCB4}"/>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6704FA69-D4C0-6330-16F2-3C07A1F2BADF}"/>
              </a:ext>
            </a:extLst>
          </p:cNvPr>
          <p:cNvSpPr txBox="1"/>
          <p:nvPr/>
        </p:nvSpPr>
        <p:spPr>
          <a:xfrm>
            <a:off x="2999625" y="419100"/>
            <a:ext cx="12288749" cy="940001"/>
          </a:xfrm>
          <a:prstGeom prst="rect">
            <a:avLst/>
          </a:prstGeom>
        </p:spPr>
        <p:txBody>
          <a:bodyPr lIns="0" tIns="0" rIns="0" bIns="0" rtlCol="0" anchor="t">
            <a:spAutoFit/>
          </a:bodyPr>
          <a:lstStyle/>
          <a:p>
            <a:pPr algn="ctr">
              <a:lnSpc>
                <a:spcPts val="7200"/>
              </a:lnSpc>
            </a:pPr>
            <a:r>
              <a:rPr lang="en-US" sz="9000" b="1" dirty="0">
                <a:solidFill>
                  <a:srgbClr val="252930"/>
                </a:solidFill>
                <a:latin typeface="Maven Pro Bold"/>
                <a:ea typeface="Maven Pro Bold"/>
                <a:cs typeface="Maven Pro Bold"/>
                <a:sym typeface="Maven Pro Bold"/>
              </a:rPr>
              <a:t>MODULE DESIGN</a:t>
            </a:r>
          </a:p>
        </p:txBody>
      </p:sp>
      <p:sp>
        <p:nvSpPr>
          <p:cNvPr id="4" name="Freeform 4">
            <a:extLst>
              <a:ext uri="{FF2B5EF4-FFF2-40B4-BE49-F238E27FC236}">
                <a16:creationId xmlns:a16="http://schemas.microsoft.com/office/drawing/2014/main" id="{57F84B08-3C25-18D3-22F3-17E7A36A2CA0}"/>
              </a:ext>
            </a:extLst>
          </p:cNvPr>
          <p:cNvSpPr/>
          <p:nvPr/>
        </p:nvSpPr>
        <p:spPr>
          <a:xfrm flipH="1">
            <a:off x="0" y="-114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606F8A52-B3B8-773A-F0A5-43A9A3D44101}"/>
              </a:ext>
            </a:extLst>
          </p:cNvPr>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E950B432-91B3-065F-8896-A3B42A28D2CF}"/>
              </a:ext>
            </a:extLst>
          </p:cNvPr>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pic>
        <p:nvPicPr>
          <p:cNvPr id="7" name="Picture 6">
            <a:extLst>
              <a:ext uri="{FF2B5EF4-FFF2-40B4-BE49-F238E27FC236}">
                <a16:creationId xmlns:a16="http://schemas.microsoft.com/office/drawing/2014/main" id="{C7ED701B-C8C8-B94D-A626-5978E53047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90800" y="1562100"/>
            <a:ext cx="12573000" cy="8382000"/>
          </a:xfrm>
          <a:prstGeom prst="rect">
            <a:avLst/>
          </a:prstGeom>
        </p:spPr>
      </p:pic>
    </p:spTree>
    <p:extLst>
      <p:ext uri="{BB962C8B-B14F-4D97-AF65-F5344CB8AC3E}">
        <p14:creationId xmlns:p14="http://schemas.microsoft.com/office/powerpoint/2010/main" val="1795594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754150" y="3832722"/>
            <a:ext cx="12779699" cy="1791414"/>
          </a:xfrm>
          <a:prstGeom prst="rect">
            <a:avLst/>
          </a:prstGeom>
        </p:spPr>
        <p:txBody>
          <a:bodyPr lIns="0" tIns="0" rIns="0" bIns="0" rtlCol="0" anchor="t">
            <a:spAutoFit/>
          </a:bodyPr>
          <a:lstStyle/>
          <a:p>
            <a:pPr algn="ctr">
              <a:lnSpc>
                <a:spcPts val="12435"/>
              </a:lnSpc>
            </a:pPr>
            <a:r>
              <a:rPr lang="en-US" sz="15544" b="1">
                <a:solidFill>
                  <a:srgbClr val="252D37"/>
                </a:solidFill>
                <a:latin typeface="Maven Pro Bold"/>
                <a:ea typeface="Maven Pro Bold"/>
                <a:cs typeface="Maven Pro Bold"/>
                <a:sym typeface="Maven Pro Bold"/>
              </a:rPr>
              <a:t>Thank You</a:t>
            </a:r>
          </a:p>
        </p:txBody>
      </p:sp>
      <p:sp>
        <p:nvSpPr>
          <p:cNvPr id="3" name="Freeform 3"/>
          <p:cNvSpPr/>
          <p:nvPr/>
        </p:nvSpPr>
        <p:spPr>
          <a:xfrm>
            <a:off x="0" y="6974593"/>
            <a:ext cx="809919" cy="3227938"/>
          </a:xfrm>
          <a:custGeom>
            <a:avLst/>
            <a:gdLst/>
            <a:ahLst/>
            <a:cxnLst/>
            <a:rect l="l" t="t" r="r" b="b"/>
            <a:pathLst>
              <a:path w="809919" h="3227938">
                <a:moveTo>
                  <a:pt x="0" y="0"/>
                </a:moveTo>
                <a:lnTo>
                  <a:pt x="809919" y="0"/>
                </a:lnTo>
                <a:lnTo>
                  <a:pt x="809919" y="3227938"/>
                </a:lnTo>
                <a:lnTo>
                  <a:pt x="0" y="322793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613969" y="8304597"/>
            <a:ext cx="4261740" cy="2130870"/>
          </a:xfrm>
          <a:custGeom>
            <a:avLst/>
            <a:gdLst/>
            <a:ahLst/>
            <a:cxnLst/>
            <a:rect l="l" t="t" r="r" b="b"/>
            <a:pathLst>
              <a:path w="4261740" h="2130870">
                <a:moveTo>
                  <a:pt x="0" y="0"/>
                </a:moveTo>
                <a:lnTo>
                  <a:pt x="4261740" y="0"/>
                </a:lnTo>
                <a:lnTo>
                  <a:pt x="4261740" y="2130870"/>
                </a:lnTo>
                <a:lnTo>
                  <a:pt x="0" y="213087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10800000">
            <a:off x="17582856" y="118636"/>
            <a:ext cx="809919" cy="3227938"/>
          </a:xfrm>
          <a:custGeom>
            <a:avLst/>
            <a:gdLst/>
            <a:ahLst/>
            <a:cxnLst/>
            <a:rect l="l" t="t" r="r" b="b"/>
            <a:pathLst>
              <a:path w="809919" h="3227938">
                <a:moveTo>
                  <a:pt x="0" y="0"/>
                </a:moveTo>
                <a:lnTo>
                  <a:pt x="809919" y="0"/>
                </a:lnTo>
                <a:lnTo>
                  <a:pt x="809919" y="3227938"/>
                </a:lnTo>
                <a:lnTo>
                  <a:pt x="0" y="322793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rot="-10800000">
            <a:off x="12517066" y="-114300"/>
            <a:ext cx="4261740" cy="2130870"/>
          </a:xfrm>
          <a:custGeom>
            <a:avLst/>
            <a:gdLst/>
            <a:ahLst/>
            <a:cxnLst/>
            <a:rect l="l" t="t" r="r" b="b"/>
            <a:pathLst>
              <a:path w="4261740" h="2130870">
                <a:moveTo>
                  <a:pt x="0" y="0"/>
                </a:moveTo>
                <a:lnTo>
                  <a:pt x="4261740" y="0"/>
                </a:lnTo>
                <a:lnTo>
                  <a:pt x="4261740" y="2130870"/>
                </a:lnTo>
                <a:lnTo>
                  <a:pt x="0" y="213087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TotalTime>
  <Words>1031</Words>
  <Application>Microsoft Office PowerPoint</Application>
  <PresentationFormat>Custom</PresentationFormat>
  <Paragraphs>91</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Times New Roman</vt:lpstr>
      <vt:lpstr>Canva Sans Bold</vt:lpstr>
      <vt:lpstr>Maven Pro</vt:lpstr>
      <vt:lpstr>Calibri</vt:lpstr>
      <vt:lpstr>Maven Pro Bold</vt:lpstr>
      <vt:lpstr>Arimo Bold</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Data Analysis Using Hadoop Ecosystem</dc:title>
  <dc:creator>Panya</dc:creator>
  <cp:lastModifiedBy>Yugandhar Prakash Tadavarthy</cp:lastModifiedBy>
  <cp:revision>10</cp:revision>
  <dcterms:created xsi:type="dcterms:W3CDTF">2006-08-16T00:00:00Z</dcterms:created>
  <dcterms:modified xsi:type="dcterms:W3CDTF">2026-04-02T14:23:41Z</dcterms:modified>
  <dc:identifier>DAHB4Q-Csz8</dc:identifier>
</cp:coreProperties>
</file>